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9E34EDF-991F-4D9E-80E3-8DBCCC3628C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0AF931-791D-4836-84C9-A554203F1C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7EA690-552B-44F7-9359-E889974939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692C92-8503-4BBA-9597-510AEE8564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F997B2-60A0-4466-B6E7-C5FD189937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6B9C61-F12D-48FB-9CDC-785162C756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E334E2-D632-4935-9E00-D5E114B99B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49FE97-5723-4019-AADE-27E7A6A0D6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E81E40-0E65-4795-A5D6-A72954E686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209491-8CC5-4BC4-B1C8-9D5A857FC9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EF2F4C-BC6B-44B0-83A8-05E1067E2A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96789-987F-460F-9D11-6355EEF123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EEEB4D-494A-44D7-9464-7CA47517D1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1777EA-6D52-41AD-A889-F50A181948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A1701D-F34A-4151-812B-4FB5BAD322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Nanum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anumGothi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85800" y="868680"/>
            <a:ext cx="3840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 dirty="0">
                <a:solidFill>
                  <a:srgbClr val="1E3A8A"/>
                </a:solidFill>
                <a:effectLst/>
                <a:uFillTx/>
                <a:latin typeface="NanumSquare"/>
                <a:ea typeface="NanumSquare"/>
              </a:rPr>
              <a:t>WELD-AI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13160" y="1627560"/>
            <a:ext cx="6766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AI </a:t>
            </a:r>
            <a:r>
              <a:rPr lang="zh-CN" sz="18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기반 용접 품질관리 및 생산이력 추적 플랫폼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31520" y="224028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작업자와 관리자를 연결해 용접 사진 분석</a:t>
            </a:r>
            <a:r>
              <a:rPr lang="en-US" sz="1500" b="0" u="none" strike="noStrike" dirty="0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500" b="0" u="none" strike="noStrike" dirty="0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불량 판별</a:t>
            </a:r>
            <a:r>
              <a:rPr lang="en-US" sz="1500" b="0" u="none" strike="noStrike" dirty="0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500" b="0" u="none" strike="noStrike" dirty="0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피드백</a:t>
            </a:r>
            <a:r>
              <a:rPr lang="en-US" sz="1500" b="0" u="none" strike="noStrike" dirty="0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500" b="0" u="none" strike="noStrike" dirty="0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이력관리를 하나의 흐름으로 처리하는 웹 플랫폼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863840" y="1097280"/>
            <a:ext cx="1919880" cy="65808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작업자 로그인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9784080" y="1097280"/>
            <a:ext cx="1919880" cy="65808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관리자 로그인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823960" y="1846800"/>
            <a:ext cx="360" cy="89640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10744200" y="1846800"/>
            <a:ext cx="360" cy="89640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726680" y="2834640"/>
            <a:ext cx="2148480" cy="86832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사진 업로드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·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촬영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품질 진단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875520" y="2834640"/>
            <a:ext cx="2148480" cy="86832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우선순위 검토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피드백 전송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9144000" y="3822120"/>
            <a:ext cx="360" cy="74988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0332720" y="3822120"/>
            <a:ext cx="360" cy="74988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818120" y="4709160"/>
            <a:ext cx="4114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 dirty="0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품질관리 플랫폼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571500" y="640044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dirty="0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 dirty="0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58354BF-1903-40CC-BE5A-1257CEAA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4AEFEC06-1208-4769-AC29-EF9C0604A08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132489"/>
            <a:ext cx="10972440" cy="4921347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1800" dirty="0"/>
              <a:t>창의적공학설계 </a:t>
            </a:r>
            <a:r>
              <a:rPr lang="en-US" altLang="ko-KR" sz="1800" dirty="0"/>
              <a:t>2</a:t>
            </a:r>
            <a:r>
              <a:rPr lang="ko-KR" altLang="en-US" sz="1800" dirty="0"/>
              <a:t>조</a:t>
            </a:r>
            <a:r>
              <a:rPr lang="en-US" altLang="ko-KR" sz="1800" dirty="0"/>
              <a:t>:</a:t>
            </a:r>
            <a:r>
              <a:rPr lang="ko-KR" altLang="en-US" sz="1800" dirty="0"/>
              <a:t>김민석</a:t>
            </a:r>
            <a:r>
              <a:rPr lang="en-US" altLang="ko-KR" sz="1800" dirty="0"/>
              <a:t>,</a:t>
            </a:r>
            <a:r>
              <a:rPr lang="ko-KR" altLang="en-US" sz="1800" dirty="0"/>
              <a:t>이주한</a:t>
            </a:r>
            <a:r>
              <a:rPr lang="en-US" altLang="ko-KR" sz="1800" dirty="0"/>
              <a:t>,</a:t>
            </a:r>
            <a:r>
              <a:rPr lang="ko-KR" altLang="en-US" sz="1800" dirty="0"/>
              <a:t>박상근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서비스 정의와 해결하려는 문제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단순 불량 판별을 넘어 현장 품질관리 흐름 전체를 연결합니다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731520" y="150876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01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731520" y="2075760"/>
            <a:ext cx="1279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현장 사진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731520" y="278892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02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731520" y="3355920"/>
            <a:ext cx="1279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AI </a:t>
            </a:r>
            <a:r>
              <a:rPr lang="zh-CN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추정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731520" y="406908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03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731520" y="4636080"/>
            <a:ext cx="1279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관리자 검토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2377440" y="1417320"/>
            <a:ext cx="86864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용접 품질 확인이 작업자 개인 경험에 의존하면 불량 원인과 재작업 판단이 늦어질 수 있음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작업장소, </a:t>
            </a:r>
            <a:r>
              <a:rPr lang="zh-CN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납기</a:t>
            </a: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작업자</a:t>
            </a: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공법</a:t>
            </a: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불량 결과가 따로 관리되면 관리자 검토 우선순위가 흐려짐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WELD-AI</a:t>
            </a:r>
            <a:r>
              <a:rPr lang="zh-CN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는 사진 기반 진단 결과를 이력화하고 관리자 피드백까지 연결해 품질관리 시간을 줄이는 구조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2377440" y="3794760"/>
            <a:ext cx="27428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F59E0B"/>
                </a:solidFill>
                <a:effectLst/>
                <a:uFillTx/>
                <a:latin typeface="NanumSquare"/>
                <a:ea typeface="NanumSquare"/>
              </a:rPr>
              <a:t>핵심 사용자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2377440" y="4251960"/>
            <a:ext cx="2742840" cy="6397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작업자는 용접 사진을 올리고 즉시 결과와 개선 가이드를 확인합니다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5440680" y="3794760"/>
            <a:ext cx="27428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핵심 관리자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5440680" y="4251960"/>
            <a:ext cx="2742840" cy="6397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관리자는 위험도와 납기를 기준으로 검토 대상을 정렬합니다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8503920" y="3794760"/>
            <a:ext cx="27428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6A34A"/>
                </a:solidFill>
                <a:effectLst/>
                <a:uFillTx/>
                <a:latin typeface="NanumSquare"/>
                <a:ea typeface="NanumSquare"/>
              </a:rPr>
              <a:t>핵심 결과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8503920" y="4251960"/>
            <a:ext cx="2742840" cy="6397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피드백과 리포트가 누적되어 재작업 관리와 교육 자료가 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웹사이트 전체 구조 분석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index.html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에서 두 역할로 진입하고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각 역할별 기능이 분리되어 있습니다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731520" y="2377440"/>
            <a:ext cx="2102760" cy="82260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로그인 화면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index.html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"/>
          <p:cNvSpPr/>
          <p:nvPr/>
        </p:nvSpPr>
        <p:spPr>
          <a:xfrm flipV="1">
            <a:off x="2971800" y="1828800"/>
            <a:ext cx="1005840" cy="868680"/>
          </a:xfrm>
          <a:prstGeom prst="line">
            <a:avLst/>
          </a:prstGeom>
          <a:ln w="19080">
            <a:solidFill>
              <a:srgbClr val="D1D5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2971800" y="2788920"/>
            <a:ext cx="1005840" cy="868680"/>
          </a:xfrm>
          <a:prstGeom prst="line">
            <a:avLst/>
          </a:prstGeom>
          <a:ln w="19080">
            <a:solidFill>
              <a:srgbClr val="D1D5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160520" y="1417320"/>
            <a:ext cx="2468520" cy="86832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관리자 대시보드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admin_ai.html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4160520" y="3291840"/>
            <a:ext cx="2468520" cy="86832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작업자 진단 화면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worker_ai.html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6812280" y="1846800"/>
            <a:ext cx="914400" cy="360"/>
          </a:xfrm>
          <a:prstGeom prst="line">
            <a:avLst/>
          </a:prstGeom>
          <a:ln w="19080">
            <a:solidFill>
              <a:srgbClr val="D1D5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6812280" y="3730680"/>
            <a:ext cx="914400" cy="360"/>
          </a:xfrm>
          <a:prstGeom prst="line">
            <a:avLst/>
          </a:prstGeom>
          <a:ln w="19080">
            <a:solidFill>
              <a:srgbClr val="D1D5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7955280" y="1143000"/>
            <a:ext cx="356580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관리자 역할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7955280" y="1600200"/>
            <a:ext cx="3565800" cy="822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중요도 산출 기준 설정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장소별 작업 정보 반영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검토 대기 목록 정렬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작업자에게 피드백 전송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7955280" y="3063240"/>
            <a:ext cx="356580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F59E0B"/>
                </a:solidFill>
                <a:effectLst/>
                <a:uFillTx/>
                <a:latin typeface="NanumSquare"/>
                <a:ea typeface="NanumSquare"/>
              </a:rPr>
              <a:t>작업자 역할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7955280" y="3520440"/>
            <a:ext cx="3565800" cy="822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공법 선택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사진 업로드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·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웹캠 촬영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품질 점수 확인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결함 원인과 개선 가이드 확인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리포트 출력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작업자 화면</a:t>
            </a:r>
            <a:r>
              <a:rPr lang="en-US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: </a:t>
            </a: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현장 입력 단계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작업자 이름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작업장소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납기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공법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사진이 분석의 기본 데이터가 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777240" y="1325880"/>
            <a:ext cx="548604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상단 입력: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작업자 이름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작업장소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납기일을 입력해 이력과 리포트에 연결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공법 선택: SMAW, GMAW/MIG/MAG, GTAW/TIG, FCAW, SAW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를 선택 가능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이미지 입력: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파일 업로드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웹캠 촬영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드래그 앤 드롭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Ctrl+V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붙여넣기 지원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시연용 샘플: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양호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기공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스패터 등 예시 이미지로 발표 중 기능 확인 가능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6858000" y="1325880"/>
            <a:ext cx="1599840" cy="50256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작업자 정보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8823960" y="1325880"/>
            <a:ext cx="1599840" cy="50256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공법 선택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6858000" y="2560320"/>
            <a:ext cx="1599840" cy="50256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사진 입력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8823960" y="2560320"/>
            <a:ext cx="1599840" cy="50256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분석 시작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8458200" y="1572480"/>
            <a:ext cx="301680" cy="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7662600" y="1874520"/>
            <a:ext cx="360" cy="612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8485560" y="2816280"/>
            <a:ext cx="274320" cy="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6903720" y="3977640"/>
            <a:ext cx="393156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발표 포인트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6903720" y="4434840"/>
            <a:ext cx="3931560" cy="59400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단순 사진 판별 사이트가 아니라 작업 조건을 함께 받아 관리자가 나중에 판단할 수 있는 데이터 구조를 만듭니다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AI </a:t>
            </a: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분석 결과</a:t>
            </a:r>
            <a:r>
              <a:rPr lang="en-US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: </a:t>
            </a: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점수와 결함을 한 화면에 표시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분석 결과는 품질 점수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판정 배지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결함 목록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레이더 평가로 구성됩니다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777240" y="13716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6A34A"/>
                </a:solidFill>
                <a:effectLst/>
                <a:uFillTx/>
                <a:latin typeface="NanumSquare"/>
                <a:ea typeface="NanumSquare"/>
              </a:rPr>
              <a:t>88%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777240" y="193860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품질 점수 예시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2880360" y="13716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결함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2880360" y="193860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기공</a:t>
            </a: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·</a:t>
            </a:r>
            <a:r>
              <a:rPr lang="zh-CN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스패터 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983480" y="13716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레이더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983480" y="193860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품질 요인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822960" y="2880360"/>
            <a:ext cx="60346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결과 패널은 분석 시작 후 표시되며 PASS, CHECK, REWORK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같은 판단 메시지를 제공합니다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결함 상세에는 결함명,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위치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위험도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심각도가 함께 나타나 관리자 검토 근거가 됩니다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웹사이트는 사진 분석이 시제품 추정이며 실제 합격·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불량은 품질 담당자 확인이 필요하다고 안내합니다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6995160" y="1097280"/>
            <a:ext cx="1554120" cy="1554120"/>
          </a:xfrm>
          <a:prstGeom prst="arc">
            <a:avLst>
              <a:gd name="adj1" fmla="val 16200000"/>
              <a:gd name="adj2" fmla="val 0"/>
            </a:avLst>
          </a:prstGeom>
          <a:noFill/>
          <a:ln w="8892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7086600" y="153612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품질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점수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9829800" y="1143000"/>
            <a:ext cx="1096920" cy="347040"/>
          </a:xfrm>
          <a:prstGeom prst="rect">
            <a:avLst/>
          </a:prstGeom>
          <a:solidFill>
            <a:srgbClr val="FEE2E2"/>
          </a:solidFill>
          <a:ln w="12600">
            <a:solidFill>
              <a:srgbClr val="FCA5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9848160" y="1197720"/>
            <a:ext cx="1060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REWORK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9281160" y="2011680"/>
            <a:ext cx="2148480" cy="127980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결함 상세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- </a:t>
            </a:r>
            <a:r>
              <a:rPr lang="zh-CN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기공</a:t>
            </a: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: </a:t>
            </a:r>
            <a:r>
              <a:rPr lang="zh-CN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중앙부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- </a:t>
            </a:r>
            <a:r>
              <a:rPr lang="zh-CN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표면 불균일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- </a:t>
            </a:r>
            <a:r>
              <a:rPr lang="zh-CN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위험도 </a:t>
            </a: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High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공정 원인 분석과 개선 가이드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판별 결과를 현장 조치로 이어주는 것이 플랫폼의 핵심 강점입니다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731520" y="1325880"/>
            <a:ext cx="32000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추정 원인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731520" y="1783080"/>
            <a:ext cx="3200040" cy="868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전류 과다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가스 유량 불균일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전극 각도 문제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표면 오염 등 공법별 원인을 제시합니다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4434840" y="1325880"/>
            <a:ext cx="32000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6A34A"/>
                </a:solidFill>
                <a:effectLst/>
                <a:uFillTx/>
                <a:latin typeface="NanumSquare"/>
                <a:ea typeface="NanumSquare"/>
              </a:rPr>
              <a:t>조치</a:t>
            </a:r>
            <a:r>
              <a:rPr lang="en-US" sz="1500" b="1" u="none" strike="noStrike">
                <a:solidFill>
                  <a:srgbClr val="16A34A"/>
                </a:solidFill>
                <a:effectLst/>
                <a:uFillTx/>
                <a:latin typeface="NanumSquare"/>
                <a:ea typeface="NanumSquare"/>
              </a:rPr>
              <a:t>·</a:t>
            </a:r>
            <a:r>
              <a:rPr lang="zh-CN" sz="1500" b="1" u="none" strike="noStrike">
                <a:solidFill>
                  <a:srgbClr val="16A34A"/>
                </a:solidFill>
                <a:effectLst/>
                <a:uFillTx/>
                <a:latin typeface="NanumSquare"/>
                <a:ea typeface="NanumSquare"/>
              </a:rPr>
              <a:t>파라미터 수정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4434840" y="1783080"/>
            <a:ext cx="3200040" cy="868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전류 조정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가스 유량 재설정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표면 청소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전극 건조와 같은 개선 방향을 안내합니다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8138160" y="1325880"/>
            <a:ext cx="32000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AI </a:t>
            </a:r>
            <a:r>
              <a:rPr lang="zh-CN" sz="1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튜터 피드백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8138160" y="1783080"/>
            <a:ext cx="3200040" cy="868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작업자가 결과를 이해하고 다음 작업에서 같은 실수를 줄일 수 있도록 설명형 피드백을 제공합니다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2331720" y="2971800"/>
            <a:ext cx="3657600" cy="123444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6035040" y="2971800"/>
            <a:ext cx="360" cy="123444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 flipH="1">
            <a:off x="6172200" y="2971800"/>
            <a:ext cx="3566160" cy="123444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2834640" y="4434840"/>
            <a:ext cx="6583320" cy="71280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불량 판별 → 원인 파악 → 현장 개선 → 이력 축적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작업 이력과 리포트 출력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분석 결과는 단발성 화면이 아니라 기록과 보고서로 남도록 설계되어 있습니다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777240" y="1325880"/>
            <a:ext cx="57603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작업 이력 테이블: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일시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공법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점수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작업자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관리자 전송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관리자 답변 항목으로 구성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최근 분석 결과를 브라우저 저장소에 보관해 같은 환경에서 관리자 화면과 연동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리포트 출력은 분석 완료,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작업장소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납기일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작업자 이름을 요구하여 기본 정보 누락을 방지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PDF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리포트에는 검사 이미지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품질 점수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결함 상세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레이더 차트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개선 가이드가 포함되는 구조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7315200" y="1371600"/>
            <a:ext cx="1919880" cy="52992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분석 결과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8275320" y="1974960"/>
            <a:ext cx="360" cy="63108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7315200" y="2743200"/>
            <a:ext cx="1919880" cy="52992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이력 저장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8275320" y="3346560"/>
            <a:ext cx="360" cy="63108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7315200" y="4114800"/>
            <a:ext cx="1919880" cy="5299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PDF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리포트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9509760" y="2743200"/>
            <a:ext cx="1919880" cy="52992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관리자 검토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9"/>
          <p:cNvSpPr/>
          <p:nvPr/>
        </p:nvSpPr>
        <p:spPr>
          <a:xfrm>
            <a:off x="9235440" y="3017520"/>
            <a:ext cx="200880" cy="360"/>
          </a:xfrm>
          <a:prstGeom prst="line">
            <a:avLst/>
          </a:prstGeom>
          <a:ln w="19080">
            <a:solidFill>
              <a:srgbClr val="D1D5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관리자 화면</a:t>
            </a:r>
            <a:r>
              <a:rPr lang="en-US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: </a:t>
            </a: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검토 대상을 우선순위화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관리자는 다수의 작업자 결과를 위험도와 업무 조건 기준으로 정렬합니다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685800" y="1234440"/>
            <a:ext cx="27428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중요도 산출 기준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685800" y="1691640"/>
            <a:ext cx="2742840" cy="731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 종류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납기 긴급도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결함 치명도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재작업 비용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고객사 등급 가중치를 조정합니다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3657600" y="1234440"/>
            <a:ext cx="27428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7C3AED"/>
                </a:solidFill>
                <a:effectLst/>
                <a:uFillTx/>
                <a:latin typeface="NanumSquare"/>
                <a:ea typeface="NanumSquare"/>
              </a:rPr>
              <a:t>장소별 작업 정보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3657600" y="1691640"/>
            <a:ext cx="2742840" cy="731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작업장소별 작업명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건당 재작업비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고객등급을 저장하고 같은 장소 파일에 반영합니다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6629400" y="1234440"/>
            <a:ext cx="27428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검토 대기 현황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6629400" y="1691640"/>
            <a:ext cx="2742840" cy="731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전체 접수와 위험 파일 수를 확인하고 불량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·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주의와 정상 항목을 나누어 봅니다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9601200" y="1234440"/>
            <a:ext cx="191988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6A34A"/>
                </a:solidFill>
                <a:effectLst/>
                <a:uFillTx/>
                <a:latin typeface="NanumSquare"/>
                <a:ea typeface="NanumSquare"/>
              </a:rPr>
              <a:t>정렬 기준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9601200" y="1691640"/>
            <a:ext cx="1919880" cy="731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납기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결함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비용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고객등급으로 목록을 정렬합니다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914400" y="3657600"/>
            <a:ext cx="102409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관리자 화면의 목적은 “어떤 용접 결과를 먼저 봐야 하는가”를 빠르게 판단하게 하는 것입니다.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특히 납기 경과, VIP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고객사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재작업비가 큰 결함은 먼저 조치해야 하므로 대시보드 기준이 필요합니다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작업자별 결과가 쌓이면 반복 불량도 함께 고려하여 교육과 작업 배정의 근거로 활용할 수 있습니다.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중요도 산출 로직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관리자 판단을 돕기 위해 업무 영향과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AI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위험률을 함께 반영합니다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822960" y="141732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우선순위 점수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3108960" y="141732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3A8A"/>
                </a:solidFill>
                <a:effectLst/>
                <a:uFillTx/>
                <a:latin typeface="NanumGothic"/>
                <a:ea typeface="NanumGothic"/>
              </a:rPr>
              <a:t>= </a:t>
            </a:r>
            <a:r>
              <a:rPr lang="zh-CN" sz="1800" b="1" u="none" strike="noStrike">
                <a:solidFill>
                  <a:srgbClr val="1E3A8A"/>
                </a:solidFill>
                <a:effectLst/>
                <a:uFillTx/>
                <a:latin typeface="NanumGothic"/>
                <a:ea typeface="NanumGothic"/>
              </a:rPr>
              <a:t>기본 중요도 </a:t>
            </a:r>
            <a:r>
              <a:rPr lang="en-US" sz="1800" b="1" u="none" strike="noStrike">
                <a:solidFill>
                  <a:srgbClr val="1E3A8A"/>
                </a:solidFill>
                <a:effectLst/>
                <a:uFillTx/>
                <a:latin typeface="NanumGothic"/>
                <a:ea typeface="NanumGothic"/>
              </a:rPr>
              <a:t>+ AI </a:t>
            </a:r>
            <a:r>
              <a:rPr lang="zh-CN" sz="1800" b="1" u="none" strike="noStrike">
                <a:solidFill>
                  <a:srgbClr val="1E3A8A"/>
                </a:solidFill>
                <a:effectLst/>
                <a:uFillTx/>
                <a:latin typeface="NanumGothic"/>
                <a:ea typeface="NanumGothic"/>
              </a:rPr>
              <a:t>위험률 보정 </a:t>
            </a:r>
            <a:r>
              <a:rPr lang="en-US" sz="1800" b="1" u="none" strike="noStrike">
                <a:solidFill>
                  <a:srgbClr val="1E3A8A"/>
                </a:solidFill>
                <a:effectLst/>
                <a:uFillTx/>
                <a:latin typeface="NanumGothic"/>
                <a:ea typeface="NanumGothic"/>
              </a:rPr>
              <a:t>+ </a:t>
            </a:r>
            <a:r>
              <a:rPr lang="zh-CN" sz="1800" b="1" u="none" strike="noStrike">
                <a:solidFill>
                  <a:srgbClr val="1E3A8A"/>
                </a:solidFill>
                <a:effectLst/>
                <a:uFillTx/>
                <a:latin typeface="NanumGothic"/>
                <a:ea typeface="NanumGothic"/>
              </a:rPr>
              <a:t>반복 불량 보정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822960" y="2697480"/>
            <a:ext cx="1828440" cy="6944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작업 종류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공법별 위험도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3063240" y="2697480"/>
            <a:ext cx="1828440" cy="694440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납기 기일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남은 일수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5303520" y="2697480"/>
            <a:ext cx="1828440" cy="694440"/>
          </a:xfrm>
          <a:prstGeom prst="rect">
            <a:avLst/>
          </a:prstGeom>
          <a:solidFill>
            <a:srgbClr val="DC2626"/>
          </a:solidFill>
          <a:ln w="126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결함 치명도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정상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·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기공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·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언더컷 등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7543800" y="2697480"/>
            <a:ext cx="1828440" cy="69444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재작업 비용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비용 규모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9784080" y="2697480"/>
            <a:ext cx="1828440" cy="69444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고객사 등급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C~VIP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914400" y="4160520"/>
            <a:ext cx="98751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기본 중요도는 5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개 항목의 가중 평균으로 계산되는 구조입니다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AI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안전도 점수가 낮을수록 위험률 보정이 커집니다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최근 이력에서 같은 작업자나 로트의 불량이 반복되면 추가 보정값이 붙습니다.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09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관리자–작업자 피드백 루프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작업자가 올린 결과를 관리자가 확인하고 다시 작업자에게 지시사항을 보냅니다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822960" y="1920240"/>
            <a:ext cx="1828440" cy="74952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작업자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진단 실행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2788920" y="2286000"/>
            <a:ext cx="1188720" cy="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4160520" y="1920240"/>
            <a:ext cx="1828440" cy="74952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이력 저장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리포트 생성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6126480" y="2286000"/>
            <a:ext cx="1188720" cy="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7498080" y="1920240"/>
            <a:ext cx="1828440" cy="74952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관리자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우선 검토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8412480" y="2788920"/>
            <a:ext cx="360" cy="100584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7498080" y="3931920"/>
            <a:ext cx="1828440" cy="7495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피드백 작성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전송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 flipH="1">
            <a:off x="2834640" y="4315680"/>
            <a:ext cx="4526280" cy="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822960" y="3931920"/>
            <a:ext cx="1828440" cy="74952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작업자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비밀번호 확인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9829800" y="1783080"/>
            <a:ext cx="178272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관리자 피드백은 작업자 이름과 보고서 ID </a:t>
            </a:r>
            <a:r>
              <a:rPr lang="zh-CN" sz="12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기준으로 저장됩니다</a:t>
            </a: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작업자는 네 자리 답변 비밀번호를 설정한 뒤 관리자 답변을 확인합니다.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이 구조는 불량 지시사항이 단순 구두 전달로 사라지는 문제를 줄여줍니다.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플랫폼의 차별점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대상은 대규모 공장만이 아니라 작업자와 소규모 용접업체입니다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777240" y="1280160"/>
            <a:ext cx="333720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접근성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777240" y="1737360"/>
            <a:ext cx="3337200" cy="91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복잡한 설비 없이 웹에서 사진 업로드만으로 품질 확인 흐름을 시작할 수 있습니다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4434840" y="1280160"/>
            <a:ext cx="333720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F59E0B"/>
                </a:solidFill>
                <a:effectLst/>
                <a:uFillTx/>
                <a:latin typeface="NanumSquare"/>
                <a:ea typeface="NanumSquare"/>
              </a:rPr>
              <a:t>관리성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4434840" y="1737360"/>
            <a:ext cx="3337200" cy="91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작업자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장소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납기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고객등급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재작업비가 결합되어 현장 관리자가 판단하기 쉽습니다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8092440" y="1280160"/>
            <a:ext cx="333720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6A34A"/>
                </a:solidFill>
                <a:effectLst/>
                <a:uFillTx/>
                <a:latin typeface="NanumSquare"/>
                <a:ea typeface="NanumSquare"/>
              </a:rPr>
              <a:t>학습성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8092440" y="1737360"/>
            <a:ext cx="3337200" cy="91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결함 원인과 개선 가이드가 누적되어 초보 작업자 교육 자료로도 활용 가능합니다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822960" y="36576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단순 </a:t>
            </a:r>
            <a:r>
              <a:rPr lang="en-US" sz="20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AI </a:t>
            </a:r>
            <a:r>
              <a:rPr lang="zh-CN" sz="20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판별 사이트와의 차이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914400" y="4251960"/>
            <a:ext cx="9966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판별에서 끝나지 않고 리포트,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피드백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우선순위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이력관리를 포함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관리자 화면과 작업자 화면을 분리해 실제 업무 역할에 맞춤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소규모 업체의 품질 문서화와 반복 불량 관리를 돕는 방향으로 확장 가능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현재 구현 상태와 한계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프로토타입으로 설득력은 있으나 실제 서비스화를 위해 보완할 부분이 있습니다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731520" y="1234440"/>
            <a:ext cx="338292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6A34A"/>
                </a:solidFill>
                <a:effectLst/>
                <a:uFillTx/>
                <a:latin typeface="NanumSquare"/>
                <a:ea typeface="NanumSquare"/>
              </a:rPr>
              <a:t>현재 구현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731520" y="1691640"/>
            <a:ext cx="3382920" cy="868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HTML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기반 화면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역할별 페이지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시연용 샘플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브라우저 저장소 기반 이력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·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피드백 흐름이 구현되어 있습니다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4434840" y="1234440"/>
            <a:ext cx="338292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한계 </a:t>
            </a:r>
            <a:r>
              <a:rPr lang="en-US" sz="1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1: </a:t>
            </a:r>
            <a:r>
              <a:rPr lang="zh-CN" sz="1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저장 구조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434840" y="1691640"/>
            <a:ext cx="3382920" cy="868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localStorage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중심이라 브라우저가 바뀌면 데이터 공유가 제한되고 장기 관리가 어렵습니다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8138160" y="1234440"/>
            <a:ext cx="338292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한계 </a:t>
            </a:r>
            <a:r>
              <a:rPr lang="en-US" sz="1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2: AI </a:t>
            </a:r>
            <a:r>
              <a:rPr lang="zh-CN" sz="1500" b="1" u="none" strike="noStrike">
                <a:solidFill>
                  <a:srgbClr val="DC2626"/>
                </a:solidFill>
                <a:effectLst/>
                <a:uFillTx/>
                <a:latin typeface="NanumSquare"/>
                <a:ea typeface="NanumSquare"/>
              </a:rPr>
              <a:t>검증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8138160" y="1691640"/>
            <a:ext cx="3382920" cy="868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현재는 시제품 추정이므로 실제 현장 적용 전에는 데이터셋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모델 검증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품질 담당자 승인 절차가 필요합니다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914400" y="3931920"/>
            <a:ext cx="987516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실제 서비스 단계에서는 서버 DB,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계정 권한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파일 저장소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작업지시서 연동이 필요합니다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품질 판정은 법적·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산업 안전 책임과 연결되므로 “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AI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보조 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+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관리자 승인” 구조를 유지해야 합니다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모델 성능은 공법,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재료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조명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촬영각도별 데이터 확보가 핵심입니다</a:t>
            </a: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발전 방향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품질관리 플랫폼으로 확장하면 수익성과 실사용 가치가 커집니다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777240" y="1508760"/>
            <a:ext cx="1828440" cy="685440"/>
          </a:xfrm>
          <a:prstGeom prst="rect">
            <a:avLst/>
          </a:prstGeom>
          <a:solidFill>
            <a:srgbClr val="334155"/>
          </a:solidFill>
          <a:ln w="126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1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단계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사진 진단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2788920" y="1846800"/>
            <a:ext cx="640080" cy="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3611880" y="1508760"/>
            <a:ext cx="1828440" cy="6854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2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단계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이력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·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리포트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5623560" y="1846800"/>
            <a:ext cx="640080" cy="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6446520" y="1508760"/>
            <a:ext cx="1828440" cy="68544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3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단계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관리자 승인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8458200" y="1846800"/>
            <a:ext cx="640080" cy="360"/>
          </a:xfrm>
          <a:prstGeom prst="line">
            <a:avLst/>
          </a:prstGeom>
          <a:ln w="19080">
            <a:solidFill>
              <a:srgbClr val="9CA3A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9281160" y="1508760"/>
            <a:ext cx="2285640" cy="68544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4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단계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업체 품질관리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SaaS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914400" y="3291840"/>
            <a:ext cx="484596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작업자별 불량률·</a:t>
            </a:r>
            <a:r>
              <a:rPr lang="zh-CN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개선률 대시보드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관리자 승인 후 품질 리포트 자동 저장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작업장소별 비용 절감액·</a:t>
            </a:r>
            <a:r>
              <a:rPr lang="zh-CN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재작업 건수 분석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휴대폰 촬영 표준 가이드와 촬영 품질 점검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실제 용접 데이터셋 기반 모델 고도화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6492240" y="3200400"/>
            <a:ext cx="4571640" cy="383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563EB"/>
                </a:solidFill>
                <a:effectLst/>
                <a:uFillTx/>
                <a:latin typeface="NanumSquare"/>
                <a:ea typeface="NanumSquare"/>
              </a:rPr>
              <a:t>사업화 메시지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6492240" y="3657600"/>
            <a:ext cx="4571640" cy="91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“AI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가 불량을 맞힌다”보다 “작업자와 관리자가 품질 문제를 기록하고 줄인다”가 더 설득력 있는 방향입니다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13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548640" y="34740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1827"/>
                </a:solidFill>
                <a:effectLst/>
                <a:uFillTx/>
                <a:latin typeface="NanumSquare"/>
                <a:ea typeface="NanumSquare"/>
              </a:rPr>
              <a:t>마무리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67000" y="8229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WELD-AI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는 현장 판단을 보조하고 품질관리 기록을 남기는 플랫폼입니다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1005840" y="1463040"/>
            <a:ext cx="658332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첫째, 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작업자는 용접 사진을 올려 품질 점수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결함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원인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, 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개선 조치를 즉시 확인할 수 있습니다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둘째, 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관리자는 납기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·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결함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·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비용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·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고객등급을 기준으로 검토 우선순위를 정하고 피드백을 보낼 수 있습니다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셋째, 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이력과 리포트를 축적하면 소규모 용접업체도 품질관리 체계를 갖출 수 있습니다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• 따라서 WELD-AI</a:t>
            </a:r>
            <a:r>
              <a:rPr lang="zh-CN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의 핵심 가치는 단순 판별이 아니라 현장 품질관리 흐름을 디지털화하는 데 있습니다</a:t>
            </a: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NanumGothic"/>
                <a:ea typeface="NanumGothic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8138160" y="1600200"/>
            <a:ext cx="1645560" cy="54828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작업자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9738360" y="2514600"/>
            <a:ext cx="1645560" cy="54828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AI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진단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8138160" y="3429000"/>
            <a:ext cx="1645560" cy="54828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관리자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9738360" y="4343400"/>
            <a:ext cx="1645560" cy="54828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NanumSquare"/>
                <a:ea typeface="NanumSquare"/>
              </a:rPr>
              <a:t>품질 이력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7"/>
          <p:cNvSpPr/>
          <p:nvPr/>
        </p:nvSpPr>
        <p:spPr>
          <a:xfrm>
            <a:off x="457200" y="6446520"/>
            <a:ext cx="11274480" cy="3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502920" y="65106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WELD-AI | AI </a:t>
            </a:r>
            <a:r>
              <a:rPr lang="zh-CN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기반 용접 품질관리 플랫폼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11292840" y="651060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CA3AF"/>
                </a:solidFill>
                <a:effectLst/>
                <a:uFillTx/>
                <a:latin typeface="NanumGothic"/>
                <a:ea typeface="NanumGothic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2980</Words>
  <Application>Microsoft Office PowerPoint</Application>
  <PresentationFormat>와이드스크린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NanumSquare</vt:lpstr>
      <vt:lpstr>NanumGothic</vt:lpstr>
      <vt:lpstr>Arial</vt:lpstr>
      <vt:lpstr>Symbol</vt:lpstr>
      <vt:lpstr>Times New Roman</vt:lpstr>
      <vt:lpstr>Wingdings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WELD-AI AI 용접 품질관리 플랫폼</dc:title>
  <dc:subject>WELD-AI 플랫폼 발표</dc:subject>
  <dc:creator>OpenAI</dc:creator>
  <dc:description/>
  <cp:lastModifiedBy>addmin</cp:lastModifiedBy>
  <cp:revision>2</cp:revision>
  <dcterms:created xsi:type="dcterms:W3CDTF">2026-10-05T06:52:01Z</dcterms:created>
  <dcterms:modified xsi:type="dcterms:W3CDTF">2026-10-06T05:12:13Z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